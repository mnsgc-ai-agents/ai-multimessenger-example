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>
      <p:cViewPr varScale="1">
        <p:scale>
          <a:sx n="91" d="100"/>
          <a:sy n="91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87D2F-7268-0C45-86F5-DDEA4B04BA72}" type="datetimeFigureOut">
              <a:rPr lang="en-GR" smtClean="0"/>
              <a:t>9/10/26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BD85E-CB91-8D47-AC57-8DAB7EE8395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4938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50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701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593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CASE STUDY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62250"/>
            <a:ext cx="981075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AI for real research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70964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D2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How one short prompt became a working gravitational-wave analysis of GW170817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7AB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prompt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13710" y="1615430"/>
            <a:ext cx="1065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User · 22:38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05200" y="1930350"/>
            <a:ext cx="7874000" cy="1828701"/>
          </a:xfrm>
          <a:prstGeom prst="roundRect">
            <a:avLst>
              <a:gd name="adj" fmla="val 13890"/>
            </a:avLst>
          </a:prstGeom>
          <a:solidFill>
            <a:srgbClr val="DBE8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60800" y="2235150"/>
            <a:ext cx="7377684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Can you take GW170817 and reproduce the detection and PE (with HyperWave?)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60800" y="3169791"/>
            <a:ext cx="73776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github.com/asasli/HyperWave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4114651"/>
            <a:ext cx="91567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443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Two lines, a clear target (one specific event), a named tool, and a link. Casual wording is fine.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37370"/>
            <a:ext cx="10883392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kumimoji="0" lang="en-US" sz="14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3718570"/>
            <a:ext cx="915670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messages between the prompt and the answer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434846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9D2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real work happened in the back-and-forth: running code, fixing errors, checking intermediate results.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7AB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104648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“Yes. I've already run a working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pilot with HyperWave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on the cleaned public H1/L1/V1 data of GW170817.”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2512665"/>
            <a:ext cx="3380284" cy="23734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3150" y="276984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3150" y="3084761"/>
            <a:ext cx="295191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SNR ≈ 34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3150" y="3633391"/>
            <a:ext cx="295191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Matched-filter recovery. Detector-frame chirp mass ≈ 1.1975 M☉.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5809" y="2512665"/>
            <a:ext cx="3380333" cy="23734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2984" y="276984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PARAMETER ESTIMATION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2984" y="3084761"/>
            <a:ext cx="295196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4 params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2984" y="3633391"/>
            <a:ext cx="295196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Conditional PE with Eryn completed, with a corner plot.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95692" y="2512665"/>
            <a:ext cx="3380333" cy="2373461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52867" y="276984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PREPARED NEXT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52867" y="3084761"/>
            <a:ext cx="295196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17 params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52867" y="3633391"/>
            <a:ext cx="2951963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Driver for Gaussian and hyperbolic PE. Initialization and waveform checks against Bilby/LAL passed.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6915150" cy="3486150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4" name="Image 0" descr="Matched-filter SNR versus time offset for H1, L1 and V1 on GW170817 cleaned data"/>
          <p:cNvPicPr>
            <a:picLocks noChangeAspect="1"/>
          </p:cNvPicPr>
          <p:nvPr/>
        </p:nvPicPr>
        <p:blipFill>
          <a:blip r:embed="rId3"/>
          <a:srcRect t="-522" b="-522"/>
          <a:stretch/>
        </p:blipFill>
        <p:spPr>
          <a:xfrm>
            <a:off x="971550" y="1723380"/>
            <a:ext cx="6604000" cy="317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89900" y="2390180"/>
            <a:ext cx="3387979" cy="91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L1 and H1 peak sharply at zero offset; V1 stays near the noise.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89900" y="3484860"/>
            <a:ext cx="3387979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43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AI didn't just report a number. It showed a plot you can inspect yourself.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7959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WHAT IT SAID IS NOT DONE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90850"/>
            <a:ext cx="10464800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12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“Full reproduction of the published posteriors, the convergence check and the discovery FAR have not been completed.”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4246811"/>
            <a:ext cx="91567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good answer separates what is finished from what is still open.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241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it kept going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66230"/>
            <a:ext cx="106680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9D2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Three short follow-ups turned a research pilot into teaching material for students.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405360"/>
            <a:ext cx="3386634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621260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REQUEST 1 · 10m 21s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2936180"/>
            <a:ext cx="3488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tutorial for students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02634" y="2405360"/>
            <a:ext cx="3386683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02634" y="2621260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REQUEST 2 · 7m 31s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02634" y="2936180"/>
            <a:ext cx="3488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 the light curve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92517" y="2405360"/>
            <a:ext cx="3386683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92517" y="2621260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REQUEST 3 · 12m 41s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92517" y="2936180"/>
            <a:ext cx="3488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E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 joint GW–EM PE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7AB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1: a tutorial for students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3810000" cy="2165350"/>
          </a:xfrm>
          <a:prstGeom prst="roundRect">
            <a:avLst>
              <a:gd name="adj" fmla="val 9384"/>
            </a:avLst>
          </a:prstGeom>
          <a:solidFill>
            <a:srgbClr val="DBE8F7"/>
          </a:solidFill>
          <a:ln/>
        </p:spPr>
        <p:txBody>
          <a:bodyPr wrap="square" lIns="194485" tIns="194485" rIns="95425" bIns="169085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I'd like a notebook, like a tutorial, and the script too. The notebook can have comments for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fast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so it runs very quickly, and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full PE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which may take hours. Can you add that so I can show it to students?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8400" y="1564630"/>
            <a:ext cx="65928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· WORKED 10m 21s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81575" y="1882725"/>
            <a:ext cx="6394450" cy="3590082"/>
          </a:xfrm>
          <a:prstGeom prst="roundRect">
            <a:avLst>
              <a:gd name="adj" fmla="val 3449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8750" y="2139900"/>
            <a:ext cx="60565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Ready for the students: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a tutorial notebook with comments, equations, plots and exercises, plus a script with three modes.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251450" y="2813000"/>
          <a:ext cx="5867400" cy="240263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9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8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F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preview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Shows saved results, no download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8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F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Tested with a full Run All: ~36 s with cached data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8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F5F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 PE, can take hours. Off by default (RUN_FULL_PE=True)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2: add the light curve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3810000" cy="1060450"/>
          </a:xfrm>
          <a:prstGeom prst="roundRect">
            <a:avLst>
              <a:gd name="adj" fmla="val 19162"/>
            </a:avLst>
          </a:prstGeom>
          <a:solidFill>
            <a:srgbClr val="DBE8F7"/>
          </a:solidFill>
          <a:ln/>
        </p:spPr>
        <p:txBody>
          <a:bodyPr wrap="square" lIns="194485" tIns="194485" rIns="95425" bIns="169085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Can you add the light curve component too?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8400" y="1564630"/>
            <a:ext cx="65928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· WORKED 7m 31s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81575" y="1882725"/>
            <a:ext cx="6394450" cy="2939802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8750" y="2139900"/>
            <a:ext cx="60565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Added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AT2017gfo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light curve to the tutorial: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23332" y="2533600"/>
            <a:ext cx="5964301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marR="0" lvl="0" indent="-169418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Real NMMA photometry, optical/NIR plots and upper limits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169418" marR="0" lvl="0" indent="-169418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Timing linked to the GW merger, plus a quick teaching fit of the fading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169418" marR="0" lvl="0" indent="-169418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An explanation of the joint GW–EM likelihood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8750" y="3691682"/>
            <a:ext cx="605650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Separate script included. fast/preview Run All passed.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38750" y="4067572"/>
            <a:ext cx="605650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35A14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Limit stated: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35A14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the fit is descriptive. It does not run a physical kilonova model or joint GW–EM PE.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3: add joint GW–EM 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3810000" cy="1060450"/>
          </a:xfrm>
          <a:prstGeom prst="roundRect">
            <a:avLst>
              <a:gd name="adj" fmla="val 19162"/>
            </a:avLst>
          </a:prstGeom>
          <a:solidFill>
            <a:srgbClr val="DBE8F7"/>
          </a:solidFill>
          <a:ln/>
        </p:spPr>
        <p:txBody>
          <a:bodyPr wrap="square" lIns="194485" tIns="194485" rIns="95425" bIns="169085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Can you add joint GW–EM PE to the notebook?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8400" y="1564630"/>
            <a:ext cx="65928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· WORKED 12m 41s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81575" y="1882725"/>
            <a:ext cx="6394450" cy="3355181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8750" y="2139900"/>
            <a:ext cx="605650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Added runnable joint GW–EM PE: shared distance and merger time, real GW170817/AT2017gfo data, corner plots, light curves and diagnostics.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38750" y="3067000"/>
            <a:ext cx="2863850" cy="1288951"/>
          </a:xfrm>
          <a:prstGeom prst="roundRect">
            <a:avLst>
              <a:gd name="adj" fmla="val 5912"/>
            </a:avLst>
          </a:prstGeom>
          <a:solidFill>
            <a:srgbClr val="F4F1E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1150" y="3219400"/>
            <a:ext cx="26358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FAST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1150" y="3483521"/>
            <a:ext cx="263582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8 parameters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whole notebook ~53 s with saved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55000" y="3067000"/>
            <a:ext cx="2863850" cy="1288951"/>
          </a:xfrm>
          <a:prstGeom prst="roundRect">
            <a:avLst>
              <a:gd name="adj" fmla="val 5912"/>
            </a:avLst>
          </a:prstGeom>
          <a:solidFill>
            <a:srgbClr val="F4F1E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07400" y="3219400"/>
            <a:ext cx="26358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F5F9E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07400" y="3483521"/>
            <a:ext cx="263582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21 parameters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off by default. Setup checked, no multi-hour run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38750" y="4482951"/>
            <a:ext cx="605650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35A14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Limit stated: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35A14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approximate cooling-blackbody model; short-run convergence not established.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12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the pattern in every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30"/>
            <a:ext cx="3386634" cy="1970980"/>
          </a:xfrm>
          <a:prstGeom prst="roundRect">
            <a:avLst>
              <a:gd name="adj" fmla="val 6443"/>
            </a:avLst>
          </a:prstGeom>
          <a:solidFill>
            <a:srgbClr val="F7C9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6800" y="1869430"/>
            <a:ext cx="296499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6800" y="2428230"/>
            <a:ext cx="29649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What was built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2834630"/>
            <a:ext cx="296499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Files you can open: notebook, script, plots.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02634" y="1615430"/>
            <a:ext cx="3386683" cy="1970980"/>
          </a:xfrm>
          <a:prstGeom prst="roundRect">
            <a:avLst>
              <a:gd name="adj" fmla="val 6443"/>
            </a:avLst>
          </a:prstGeom>
          <a:solidFill>
            <a:srgbClr val="F7C9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56634" y="1869430"/>
            <a:ext cx="29650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56634" y="2428230"/>
            <a:ext cx="29650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How it was tested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56634" y="2834630"/>
            <a:ext cx="29650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"Run All passed", "~36 s", "~53 s", "setup checked".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92517" y="1615430"/>
            <a:ext cx="3386683" cy="1970980"/>
          </a:xfrm>
          <a:prstGeom prst="roundRect">
            <a:avLst>
              <a:gd name="adj" fmla="val 6443"/>
            </a:avLst>
          </a:prstGeom>
          <a:solidFill>
            <a:srgbClr val="F7C9A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46517" y="1869430"/>
            <a:ext cx="29650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46517" y="2428230"/>
            <a:ext cx="29650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What it does not do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46517" y="2834630"/>
            <a:ext cx="29650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Descriptive fit, approximate model, convergence not shown.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241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88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PART 2 · EXPERT REVIEW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31740"/>
            <a:ext cx="981075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"Run All passed" is not "the science is right"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65860"/>
            <a:ext cx="91567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9D2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domain expert read the five delivered files (pilot, PE driver, tutorial, joint script, notebook) and compared them with the HyperWave repository's own examples. Here is what they found.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7AB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did well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3414167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7750" y="172338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Set up its own environment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028180"/>
            <a:ext cx="3039135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Created a venv, pinned constraints (NumPy &lt; 2.4 for Eryn), fixed a Matplotlib import, registered a Jupyter kernel.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8892" y="1517005"/>
            <a:ext cx="3414167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20667" y="172338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Chose the data carefully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0667" y="2028180"/>
            <a:ext cx="3039135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Pinned the cleaned GWOSC v2 release to avoid the L1 glitch, off-source median-Welch PSD, SHA-256 of every file in a manifest.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61809" y="1517005"/>
            <a:ext cx="3414216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93584" y="172338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Offered both likelihoods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93584" y="2028180"/>
            <a:ext cx="303918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Gaussian and hyperbolic drivers, with the nuisance parameters wired in and a finite-likelihood check for each.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975" y="3317825"/>
            <a:ext cx="3414167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7750" y="35242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Got the joint likelihood right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7750" y="3829000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log L_GW + log L_EM with one shared prior, shared D_L and t_c, and a unit test for the R/D degeneracy.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8892" y="3317825"/>
            <a:ext cx="3414167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20667" y="352420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Handled units and clocks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20667" y="3829000"/>
            <a:ext cx="3039135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GPS to UTC MJD before subtracting, observer vs rest-frame days, detector-frame vs source-frame chirp mass.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61809" y="3317825"/>
            <a:ext cx="3414216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93584" y="352420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Flagged every limit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93584" y="3829000"/>
            <a:ext cx="303918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"Convergence not assessed" on each output, long runs disabled in Run All, student exercises at the end.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Wrong: the sampler budget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0"/>
            <a:ext cx="651433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"full PE" defaults versus the repository's own GW150914 example (same sampler, same package):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25500" y="2125911"/>
          <a:ext cx="6311901" cy="2196950"/>
        </p:xfrm>
        <a:graphic>
          <a:graphicData uri="http://schemas.openxmlformats.org/drawingml/2006/table">
            <a:tbl>
              <a:tblPr/>
              <a:tblGrid>
                <a:gridCol w="2103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3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Eryn setting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AI's full PE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 example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Walkers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Temperatures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Burn-in steps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35A1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20,000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9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Production steps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35A1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70,000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45375" y="1517005"/>
            <a:ext cx="3930650" cy="1873200"/>
          </a:xfrm>
          <a:prstGeom prst="roundRect">
            <a:avLst>
              <a:gd name="adj" fmla="val 6610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77150" y="1723380"/>
            <a:ext cx="35711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Would not converge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77150" y="2028180"/>
            <a:ext cx="3571113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17 to 22 dimensions, a prior-initialised start, and a budget 20 to 70 times smaller than the precedent in the same repo. Running it for hours would still give an unusable posterior.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45375" y="3548955"/>
            <a:ext cx="3930650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77150" y="3755330"/>
            <a:ext cx="35711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pocoMC never mentioned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77150" y="4060130"/>
            <a:ext cx="357111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HyperWave supports it, the repo's full-PE example defaults to it, and it would reach a usable result faster. The AI never surfaced the option.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Wrong: the hyperbolic likelihood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0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Hyperbolic is HyperWave's main feature. The AI wired it in, but did not understand it.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2037705"/>
            <a:ext cx="3414167" cy="210433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24408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Never actually run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750" y="2548880"/>
            <a:ext cx="3039135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Only a finite-value smoke test at an arbitrary point. No hyperbolic sampling, no comparison with the Gaussian run, no residual check on the glitch it was meant to handle.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8892" y="2037705"/>
            <a:ext cx="3414216" cy="210433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0667" y="224408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Arbitrary shape parameters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20667" y="2548880"/>
            <a:ext cx="3039186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All walkers start at α = δ = 5 with spread 0.2. The Gaussian limit lives at large α and δ. If the noise were assumed Gaussian, the start and prior should reflect that. No justification given.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61858" y="2037705"/>
            <a:ext cx="3414167" cy="210433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93633" y="2244080"/>
            <a:ext cx="30391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Not explained to students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93633" y="2548880"/>
            <a:ext cx="3039135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With hyperbolic, PE becomes a joint signal + noise-shape inference. The tutorial says "adds one α and four δ" and stops. The (ξ, χ) shape triangle that diagnoses non-Gaussianity is never shown.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opportunities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5200650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7750" y="172338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Ignored the package's plotting API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028180"/>
            <a:ext cx="487921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Corner plots are built with raw corner and the Eryn HDF backend. hyperwave.plots.plot_posterior, waveform reconstructions and the shape triangle exist and were never used.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5375" y="1517005"/>
            <a:ext cx="5200650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7150" y="172338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Did not read the neighbouring example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7150" y="2028180"/>
            <a:ext cx="487921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gw150914_pe.py sits in the same folder, with sensible sampler settings and a --sampler pocomc flag. Copying its pattern would have fixed two slides' worth of problems.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5975" y="3317825"/>
            <a:ext cx="5200650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7750" y="352420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Took the request literally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3829000"/>
            <a:ext cx="487921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"Add the light curve" became a standalone descriptive fit. A domain-aware collaborator would have proposed the joint GW–EM analysis right away; it took a third prompt.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5375" y="3317825"/>
            <a:ext cx="5200650" cy="1642070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7150" y="3524200"/>
            <a:ext cx="48792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Fragile engineering details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7150" y="3829000"/>
            <a:ext cx="487921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Overwrites a private attribute (noise._start_time), hard-codes .venv/bin/python and git calls inside the science script, and the hand-picked full-PE warm start (cos tilt = 0.9) is not justified.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895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PATTERN BEHIND THE MISTAKES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92400"/>
            <a:ext cx="10464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1F12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Disclaimers are not settings.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505200"/>
            <a:ext cx="98107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120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Every output was labelled "convergence not established". That is honest, and a student would still launch the wrong run. The AI knew the limits of its work; it did not know the right numbers. Choosing them is still the expert's job.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241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for working with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5175250" cy="1362621"/>
          </a:xfrm>
          <a:prstGeom prst="roundRect">
            <a:avLst>
              <a:gd name="adj" fmla="val 908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3150" y="182498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1 · Start short and concrete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3150" y="2175470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Name the goal and the target. Two lines were enough to begin.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00775" y="1567805"/>
            <a:ext cx="5175250" cy="1362621"/>
          </a:xfrm>
          <a:prstGeom prst="roundRect">
            <a:avLst>
              <a:gd name="adj" fmla="val 908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7950" y="1824980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 · Give it the context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57950" y="2175470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Link the repo, data or paper you want used. It built on the exact tool named.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5975" y="3139976"/>
            <a:ext cx="5175250" cy="1362621"/>
          </a:xfrm>
          <a:prstGeom prst="roundRect">
            <a:avLst>
              <a:gd name="adj" fmla="val 908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3150" y="33971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3 · Expect iteration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3150" y="3747641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Plan for many rounds, not one. Steer it like a collaborator.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00775" y="3139976"/>
            <a:ext cx="5175250" cy="1362621"/>
          </a:xfrm>
          <a:prstGeom prst="roundRect">
            <a:avLst>
              <a:gd name="adj" fmla="val 9087"/>
            </a:avLst>
          </a:prstGeom>
          <a:solidFill>
            <a:srgbClr val="FFFFFF"/>
          </a:solidFill>
          <a:ln w="6350">
            <a:solidFill>
              <a:srgbClr val="DDD5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1200" cap="none" spc="0" normalizeH="0" baseline="0" noProof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57950" y="33971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4 · Verify before you trust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57950" y="3747641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2233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Check plots, numbers and the "not done" list against published results.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6457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510780"/>
            <a:ext cx="1088339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but verify.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45817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D2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can get you to a working pilot fast. Finishing the science is still your job.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97AB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AI training · GW170817 case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A2233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ing AI for Real Research: A GW170817 Case Study">
  <a:themeElements>
    <a:clrScheme name="Using AI for Real Research: A GW170817 Case Study">
      <a:dk1>
        <a:srgbClr val="1A2233"/>
      </a:dk1>
      <a:lt1>
        <a:srgbClr val="F4F1EA"/>
      </a:lt1>
      <a:dk2>
        <a:srgbClr val="515661"/>
      </a:dk2>
      <a:lt2>
        <a:srgbClr val="DEDCD8"/>
      </a:lt2>
      <a:accent1>
        <a:srgbClr val="E8833A"/>
      </a:accent1>
      <a:accent2>
        <a:srgbClr val="2F5F9E"/>
      </a:accent2>
      <a:accent3>
        <a:srgbClr val="F7C9A3"/>
      </a:accent3>
      <a:accent4>
        <a:srgbClr val="3D2410"/>
      </a:accent4>
      <a:accent5>
        <a:srgbClr val="B35A14"/>
      </a:accent5>
      <a:accent6>
        <a:srgbClr val="6B6457"/>
      </a:accent6>
      <a:hlink>
        <a:srgbClr val="0563C1"/>
      </a:hlink>
      <a:folHlink>
        <a:srgbClr val="954F72"/>
      </a:folHlink>
    </a:clrScheme>
    <a:fontScheme name="Using AI for Real Research: A GW170817 Case Study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1628</Words>
  <Application>Microsoft Macintosh PowerPoint</Application>
  <PresentationFormat>Widescreen</PresentationFormat>
  <Paragraphs>185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Inter</vt:lpstr>
      <vt:lpstr>JetBrains Mono</vt:lpstr>
      <vt:lpstr>Using AI for Real Research: A GW170817 Case Study</vt:lpstr>
      <vt:lpstr>Using AI for real research</vt:lpstr>
      <vt:lpstr>The prompt</vt:lpstr>
      <vt:lpstr>PowerPoint Presentation</vt:lpstr>
      <vt:lpstr>The answer</vt:lpstr>
      <vt:lpstr>The evidence</vt:lpstr>
      <vt:lpstr>“Full reproduction of the published posteriors, the convergence check and the discovery FAR have not been completed.”</vt:lpstr>
      <vt:lpstr>Then it kept going</vt:lpstr>
      <vt:lpstr>Request 1: a tutorial for students</vt:lpstr>
      <vt:lpstr>Request 2: add the light curve</vt:lpstr>
      <vt:lpstr>Request 3: add joint GW–EM PE</vt:lpstr>
      <vt:lpstr>Notice the pattern in every answer</vt:lpstr>
      <vt:lpstr>"Run All passed" is not "the science is right"</vt:lpstr>
      <vt:lpstr>What it did well</vt:lpstr>
      <vt:lpstr>Wrong: the sampler budget</vt:lpstr>
      <vt:lpstr>Wrong: the hyperbolic likelihood</vt:lpstr>
      <vt:lpstr>Missed opportunities</vt:lpstr>
      <vt:lpstr>Disclaimers are not settings.</vt:lpstr>
      <vt:lpstr>Lessons for working with AI</vt:lpstr>
      <vt:lpstr>Trust, but verify.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Argyro Sasli</dc:creator>
  <cp:lastModifiedBy>Argyro Sasli</cp:lastModifiedBy>
  <cp:revision>1</cp:revision>
  <dcterms:created xsi:type="dcterms:W3CDTF">2026-10-09T18:22:35Z</dcterms:created>
  <dcterms:modified xsi:type="dcterms:W3CDTF">2026-10-09T18:24:32Z</dcterms:modified>
</cp:coreProperties>
</file>